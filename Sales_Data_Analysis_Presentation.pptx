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F4E79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F4E79"/>
                </a:solidFill>
                <a:latin typeface="Arial"/>
              </a:rPr>
              <a:t>Revenue by Category (Millions INR)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(INR Millions)</c:v>
                </c:pt>
              </c:strCache>
            </c:strRef>
          </c:tx>
          <c:spPr>
            <a:solidFill>
              <a:srgbClr val="1F4E7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F4E79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4E79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E75B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5B9BD5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9DC3E6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BDD7EE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Electronics</c:v>
                  </c:pt>
                  <c:pt idx="1">
                    <c:v>Furniture</c:v>
                  </c:pt>
                  <c:pt idx="2">
                    <c:v>Sports &amp; Outdoors</c:v>
                  </c:pt>
                  <c:pt idx="3">
                    <c:v>Clothing</c:v>
                  </c:pt>
                  <c:pt idx="4">
                    <c:v>Food &amp; Bev.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437.7</c:v>
                </c:pt>
                <c:pt idx="1">
                  <c:v>260.7</c:v>
                </c:pt>
                <c:pt idx="2">
                  <c:v>150.7</c:v>
                </c:pt>
                <c:pt idx="3">
                  <c:v>28.1</c:v>
                </c:pt>
                <c:pt idx="4">
                  <c:v>8.3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1F4E79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EBF3FB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F4E79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F4E79"/>
                </a:solidFill>
                <a:latin typeface="Arial"/>
              </a:rPr>
              <a:t>Monthly Revenue Trend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Monthly Revenue (Millions INR)</c:v>
                </c:pt>
              </c:strCache>
            </c:strRef>
          </c:tx>
          <c:spPr>
            <a:solidFill>
              <a:srgbClr val="2E75B6"/>
            </a:solidFill>
            <a:ln w="31750" cap="flat">
              <a:solidFill>
                <a:srgbClr val="2E75B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E75B6"/>
              </a:solidFill>
              <a:ln w="9525" cap="flat">
                <a:solidFill>
                  <a:srgbClr val="2E75B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72</c:v>
                </c:pt>
                <c:pt idx="1">
                  <c:v>71</c:v>
                </c:pt>
                <c:pt idx="2">
                  <c:v>75</c:v>
                </c:pt>
                <c:pt idx="3">
                  <c:v>74</c:v>
                </c:pt>
                <c:pt idx="4">
                  <c:v>73</c:v>
                </c:pt>
                <c:pt idx="5">
                  <c:v>74</c:v>
                </c:pt>
                <c:pt idx="6">
                  <c:v>75</c:v>
                </c:pt>
                <c:pt idx="7">
                  <c:v>73</c:v>
                </c:pt>
                <c:pt idx="8">
                  <c:v>74</c:v>
                </c:pt>
                <c:pt idx="9">
                  <c:v>73</c:v>
                </c:pt>
                <c:pt idx="10">
                  <c:v>74</c:v>
                </c:pt>
                <c:pt idx="11">
                  <c:v>74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EBF3FB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2E75B6">
              <a:alpha val="40000"/>
            </a:srgbClr>
          </a:solidFill>
          <a:ln w="12700">
            <a:solidFill>
              <a:srgbClr val="2E75B6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0"/>
            <a:ext cx="1371600" cy="5143500"/>
          </a:xfrm>
          <a:prstGeom prst="rect">
            <a:avLst/>
          </a:prstGeom>
          <a:solidFill>
            <a:srgbClr val="2E75B6">
              <a:alpha val="25000"/>
            </a:srgbClr>
          </a:solidFill>
          <a:ln w="12700">
            <a:solidFill>
              <a:srgbClr val="2E75B6">
                <a:alpha val="2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2296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DATA ANALYSIS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Report — 2024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3200400" y="2286000"/>
            <a:ext cx="2743200" cy="36576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4688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Python  |  SQL  |  Excel  |  Power BI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83464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10,000 Sales Transactions  |  Jan – Dec 2024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4160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Hima Bindu  |  MBA, CGPA 9.08  |  Vemu Institute of Technology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57200" y="44805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himabindu7503@gmail.com  |  linkedin.com/in/himabindu-s  |  github.com/himabindu447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6858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658368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Objective, tools, and scope of the Sales Data Analysis project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4114800" cy="1508760"/>
          </a:xfrm>
          <a:prstGeom prst="rect">
            <a:avLst/>
          </a:prstGeom>
          <a:solidFill>
            <a:srgbClr val="EBF3FB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116128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14400" y="114300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527048"/>
            <a:ext cx="3840480" cy="91440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10,000+ sales transactions to identify revenue trends, top products, and regional performance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709160" y="1051560"/>
            <a:ext cx="4114800" cy="1508760"/>
          </a:xfrm>
          <a:prstGeom prst="rect">
            <a:avLst/>
          </a:prstGeom>
          <a:solidFill>
            <a:srgbClr val="F0F7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46320" y="116128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🗄️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349240" y="114300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46320" y="1527048"/>
            <a:ext cx="3840480" cy="91440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 rows × 15 columns covering transactions from January to December 2024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4320" y="2788920"/>
            <a:ext cx="4114800" cy="1508760"/>
          </a:xfrm>
          <a:prstGeom prst="rect">
            <a:avLst/>
          </a:prstGeom>
          <a:solidFill>
            <a:srgbClr val="EBF3FB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11480" y="289864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🛠️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914400" y="288036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Used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11480" y="3264408"/>
            <a:ext cx="3840480" cy="91440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(Pandas, NumPy, Matplotlib), SQL (Joins, Aggregations), Excel, Power BI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709160" y="2788920"/>
            <a:ext cx="4114800" cy="1508760"/>
          </a:xfrm>
          <a:prstGeom prst="rect">
            <a:avLst/>
          </a:prstGeom>
          <a:solidFill>
            <a:srgbClr val="F0F7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846320" y="289864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349240" y="288036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46320" y="3264408"/>
            <a:ext cx="3840480" cy="91440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dataset, EDA report, SQL queries, Excel workbook, Power BI interactive dashboard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6858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&amp; Preprocessing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658368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taken to validate and prepare the dataset for analysis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594360" cy="100584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51560"/>
            <a:ext cx="594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68680" y="1051560"/>
            <a:ext cx="3520440" cy="1005840"/>
          </a:xfrm>
          <a:prstGeom prst="rect">
            <a:avLst/>
          </a:prstGeom>
          <a:solidFill>
            <a:srgbClr val="EBF3FB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2688" y="109728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Value Check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32688" y="15087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0 null values found across all 15 columns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709160" y="1051560"/>
            <a:ext cx="594360" cy="100584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9160" y="1051560"/>
            <a:ext cx="594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303520" y="1051560"/>
            <a:ext cx="3520440" cy="1005840"/>
          </a:xfrm>
          <a:prstGeom prst="rect">
            <a:avLst/>
          </a:prstGeom>
          <a:solidFill>
            <a:srgbClr val="EBF3FB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67528" y="109728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Detection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367528" y="15087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0 duplicate Transaction IDs detected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74320" y="2286000"/>
            <a:ext cx="594360" cy="100584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2286000"/>
            <a:ext cx="594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868680" y="2286000"/>
            <a:ext cx="3520440" cy="1005840"/>
          </a:xfrm>
          <a:prstGeom prst="rect">
            <a:avLst/>
          </a:prstGeom>
          <a:solidFill>
            <a:srgbClr val="EBF3FB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2688" y="233172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 Conversion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32688" y="27432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Date converted from string to datetime format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709160" y="2286000"/>
            <a:ext cx="594360" cy="100584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9160" y="2286000"/>
            <a:ext cx="594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303520" y="2286000"/>
            <a:ext cx="3520440" cy="1005840"/>
          </a:xfrm>
          <a:prstGeom prst="rect">
            <a:avLst/>
          </a:prstGeom>
          <a:solidFill>
            <a:srgbClr val="EBF3FB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67528" y="233172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Revenue Check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367528" y="27432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All revenue values confirmed positive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74320" y="3520440"/>
            <a:ext cx="594360" cy="100584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3520440"/>
            <a:ext cx="594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868680" y="3520440"/>
            <a:ext cx="3520440" cy="1005840"/>
          </a:xfrm>
          <a:prstGeom prst="rect">
            <a:avLst/>
          </a:prstGeom>
          <a:solidFill>
            <a:srgbClr val="EBF3FB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32688" y="356616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Validation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932688" y="39776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Valid tiers only: 0%, 5%, 10%, 15%, 20%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709160" y="3520440"/>
            <a:ext cx="594360" cy="100584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09160" y="3520440"/>
            <a:ext cx="594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5303520" y="3520440"/>
            <a:ext cx="3520440" cy="1005840"/>
          </a:xfrm>
          <a:prstGeom prst="rect">
            <a:avLst/>
          </a:prstGeom>
          <a:solidFill>
            <a:srgbClr val="EBF3FB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367528" y="356616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Category/Region Check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367528" y="39776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No misspellings or inconsistencies found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74320" y="4663440"/>
            <a:ext cx="8595360" cy="2926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4320" y="4663440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Final Dataset: 10,000 rows × 15 columns — Clean, validated, and ready for analysis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6858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Performance Metrics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658368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KPIs derived from 10,000 sales transactions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1920240" cy="100584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14300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INR 885M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74320" y="170992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331720" y="1097280"/>
            <a:ext cx="1920240" cy="100584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331720" y="114300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331720" y="170992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389120" y="1097280"/>
            <a:ext cx="1920240" cy="1005840"/>
          </a:xfrm>
          <a:prstGeom prst="rect">
            <a:avLst/>
          </a:prstGeom>
          <a:solidFill>
            <a:srgbClr val="1A6599"/>
          </a:solidFill>
          <a:ln w="12700">
            <a:solidFill>
              <a:srgbClr val="1A659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389120" y="114300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INR 88,546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389120" y="170992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Order Value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446520" y="1097280"/>
            <a:ext cx="1920240" cy="1005840"/>
          </a:xfrm>
          <a:prstGeom prst="rect">
            <a:avLst/>
          </a:prstGeom>
          <a:solidFill>
            <a:srgbClr val="0D4B78"/>
          </a:solidFill>
          <a:ln w="12700">
            <a:solidFill>
              <a:srgbClr val="0D4B7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46520" y="114300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54,965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446520" y="170992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Units Sold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74320" y="2331720"/>
            <a:ext cx="4206240" cy="34747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233172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Category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2679192"/>
            <a:ext cx="4206240" cy="384048"/>
          </a:xfrm>
          <a:prstGeom prst="rect">
            <a:avLst/>
          </a:prstGeom>
          <a:solidFill>
            <a:srgbClr val="EBF3FB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267919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200400" y="267919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INR 437.7M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617720" y="2770632"/>
            <a:ext cx="2284434" cy="20116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" y="3090672"/>
            <a:ext cx="42062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09067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Furniture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200400" y="309067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INR 260.7M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617720" y="3182112"/>
            <a:ext cx="1360640" cy="20116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74320" y="3502152"/>
            <a:ext cx="4206240" cy="384048"/>
          </a:xfrm>
          <a:prstGeom prst="rect">
            <a:avLst/>
          </a:prstGeom>
          <a:solidFill>
            <a:srgbClr val="EBF3FB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50215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 &amp; Outdoors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200400" y="350215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INR 150.7M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617720" y="3593592"/>
            <a:ext cx="786530" cy="20116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913632"/>
            <a:ext cx="42062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391363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Clothing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200400" y="391363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INR 28.1M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617720" y="4005072"/>
            <a:ext cx="146659" cy="20116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74320" y="4325112"/>
            <a:ext cx="4206240" cy="384048"/>
          </a:xfrm>
          <a:prstGeom prst="rect">
            <a:avLst/>
          </a:prstGeom>
          <a:solidFill>
            <a:srgbClr val="EBF3FB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432511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&amp; Bev.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200400" y="432511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INR 8.3M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617720" y="4416552"/>
            <a:ext cx="43319" cy="20116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754880" y="2331720"/>
            <a:ext cx="4114800" cy="34747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54880" y="233172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Region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754880" y="2679192"/>
            <a:ext cx="4114800" cy="384048"/>
          </a:xfrm>
          <a:prstGeom prst="rect">
            <a:avLst/>
          </a:prstGeom>
          <a:solidFill>
            <a:srgbClr val="EBF3FB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46320" y="267919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7040880" y="267919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INR 183.2M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754880" y="3090672"/>
            <a:ext cx="41148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46320" y="309067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7040880" y="309067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INR 179.4M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754880" y="3502152"/>
            <a:ext cx="4114800" cy="384048"/>
          </a:xfrm>
          <a:prstGeom prst="rect">
            <a:avLst/>
          </a:prstGeom>
          <a:solidFill>
            <a:srgbClr val="EBF3FB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46320" y="350215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7040880" y="350215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INR 177.3M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754880" y="3913632"/>
            <a:ext cx="41148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46320" y="391363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7040880" y="391363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INR 172.8M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754880" y="4325112"/>
            <a:ext cx="4114800" cy="384048"/>
          </a:xfrm>
          <a:prstGeom prst="rect">
            <a:avLst/>
          </a:prstGeom>
          <a:solidFill>
            <a:srgbClr val="EBF3FB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846320" y="432511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7040880" y="432511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INR 162.8M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6858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 — Revenue &amp; Trends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658368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breakdown of category revenue and monthly performance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74320" y="1005840"/>
          <a:ext cx="475488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5212080" y="1005840"/>
          <a:ext cx="36576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6858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Analysis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658368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queries written to extract business insights using MySQL/PostgreSQL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4114800" cy="1097280"/>
          </a:xfrm>
          <a:prstGeom prst="rect">
            <a:avLst/>
          </a:prstGeom>
          <a:solidFill>
            <a:srgbClr val="EBF3FB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51560"/>
            <a:ext cx="73152" cy="109728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114300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KPIs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38912" y="150876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revenue, orders, avg order value, units sold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709160" y="1051560"/>
            <a:ext cx="4114800" cy="1097280"/>
          </a:xfrm>
          <a:prstGeom prst="rect">
            <a:avLst/>
          </a:prstGeom>
          <a:solidFill>
            <a:srgbClr val="F0F7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051560"/>
            <a:ext cx="73152" cy="109728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73752" y="114300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BY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873752" y="150876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segmented by category, region, product, payment method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74320" y="2313432"/>
            <a:ext cx="4114800" cy="1097280"/>
          </a:xfrm>
          <a:prstGeom prst="rect">
            <a:avLst/>
          </a:prstGeom>
          <a:solidFill>
            <a:srgbClr val="EBF3FB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313432"/>
            <a:ext cx="73152" cy="109728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240487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Analysis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38912" y="2770632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revenue trend, quarterly performance comparison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709160" y="2313432"/>
            <a:ext cx="4114800" cy="1097280"/>
          </a:xfrm>
          <a:prstGeom prst="rect">
            <a:avLst/>
          </a:prstGeom>
          <a:solidFill>
            <a:srgbClr val="F0F7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9160" y="2313432"/>
            <a:ext cx="73152" cy="109728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73752" y="240487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Subqueries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873752" y="2770632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Above-average customers, high-value transactions (75th percentile)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74320" y="3575304"/>
            <a:ext cx="4114800" cy="1097280"/>
          </a:xfrm>
          <a:prstGeom prst="rect">
            <a:avLst/>
          </a:prstGeom>
          <a:solidFill>
            <a:srgbClr val="EBF3FB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3575304"/>
            <a:ext cx="73152" cy="109728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8912" y="366674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Functions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38912" y="4032504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RANK() for category performance within each region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709160" y="3575304"/>
            <a:ext cx="4114800" cy="1097280"/>
          </a:xfrm>
          <a:prstGeom prst="rect">
            <a:avLst/>
          </a:prstGeom>
          <a:solidFill>
            <a:srgbClr val="F0F7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09160" y="3575304"/>
            <a:ext cx="73152" cy="109728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73752" y="366674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 Growth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873752" y="4032504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Month-over-month revenue growth percentage calculation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6858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Business Insights &amp; Recommendations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658368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findings derived from the data analysis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347472" cy="100584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51560"/>
            <a:ext cx="3474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21792" y="1051560"/>
            <a:ext cx="3767328" cy="1005840"/>
          </a:xfrm>
          <a:prstGeom prst="rect">
            <a:avLst/>
          </a:prstGeom>
          <a:solidFill>
            <a:srgbClr val="EBF3FB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105156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4E79"/>
                </a:solidFill>
              </a:rPr>
              <a:t>Electronics Dominates
</a:t>
            </a:r>
            <a:endParaRPr lang="en-US" sz="950" dirty="0"/>
          </a:p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</a:rPr>
              <a:t>Contributes INR 437.7M — 49.4% of total revenue. Boost inventory &amp; marketing.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709160" y="1051560"/>
            <a:ext cx="347472" cy="1005840"/>
          </a:xfrm>
          <a:prstGeom prst="rect">
            <a:avLst/>
          </a:prstGeom>
          <a:solidFill>
            <a:srgbClr val="1A6599"/>
          </a:solidFill>
          <a:ln w="12700">
            <a:solidFill>
              <a:srgbClr val="1A65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09160" y="1051560"/>
            <a:ext cx="3474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056632" y="1051560"/>
            <a:ext cx="3767328" cy="1005840"/>
          </a:xfrm>
          <a:prstGeom prst="rect">
            <a:avLst/>
          </a:prstGeom>
          <a:solidFill>
            <a:srgbClr val="EBF3FB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56632" y="105156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4E79"/>
                </a:solidFill>
              </a:rPr>
              <a:t>North Region Leads
</a:t>
            </a:r>
            <a:endParaRPr lang="en-US" sz="950" dirty="0"/>
          </a:p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</a:rPr>
              <a:t>North generates INR 183.2M, the highest of all regions. Replicate strategies.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4320" y="2221992"/>
            <a:ext cx="347472" cy="1005840"/>
          </a:xfrm>
          <a:prstGeom prst="rect">
            <a:avLst/>
          </a:prstGeom>
          <a:solidFill>
            <a:srgbClr val="0D4B78"/>
          </a:solidFill>
          <a:ln w="12700">
            <a:solidFill>
              <a:srgbClr val="0D4B7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2221992"/>
            <a:ext cx="3474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21792" y="2221992"/>
            <a:ext cx="3767328" cy="1005840"/>
          </a:xfrm>
          <a:prstGeom prst="rect">
            <a:avLst/>
          </a:prstGeom>
          <a:solidFill>
            <a:srgbClr val="EBF3FB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" y="2221992"/>
            <a:ext cx="3749040" cy="100584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4E79"/>
                </a:solidFill>
              </a:rPr>
              <a:t>Top Product: Laptop
</a:t>
            </a:r>
            <a:endParaRPr lang="en-US" sz="950" dirty="0"/>
          </a:p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</a:rPr>
              <a:t>Laptops are the #1 revenue product. Ensure stock availability at all times.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709160" y="2221992"/>
            <a:ext cx="347472" cy="100584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09160" y="2221992"/>
            <a:ext cx="3474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056632" y="2221992"/>
            <a:ext cx="3767328" cy="1005840"/>
          </a:xfrm>
          <a:prstGeom prst="rect">
            <a:avLst/>
          </a:prstGeom>
          <a:solidFill>
            <a:srgbClr val="EBF3FB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56632" y="2221992"/>
            <a:ext cx="3749040" cy="100584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4E79"/>
                </a:solidFill>
              </a:rPr>
              <a:t>Food &amp; Bev. Underperforming
</a:t>
            </a:r>
            <a:endParaRPr lang="en-US" sz="950" dirty="0"/>
          </a:p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</a:rPr>
              <a:t>Lowest category at INR 8.3M. Review pricing and run targeted promotions.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514600" y="3392424"/>
            <a:ext cx="347472" cy="10058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14600" y="3392424"/>
            <a:ext cx="3474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2862072" y="3392424"/>
            <a:ext cx="3767328" cy="1005840"/>
          </a:xfrm>
          <a:prstGeom prst="rect">
            <a:avLst/>
          </a:prstGeom>
          <a:solidFill>
            <a:srgbClr val="EBF3FB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862072" y="3392424"/>
            <a:ext cx="3749040" cy="100584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4E79"/>
                </a:solidFill>
              </a:rPr>
              <a:t>Consistent Monthly Revenue
</a:t>
            </a:r>
            <a:endParaRPr lang="en-US" sz="950" dirty="0"/>
          </a:p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</a:rPr>
              <a:t>Revenue is stable year-round. Plan seasonal campaigns to create growth spikes.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2E75B6">
              <a:alpha val="40000"/>
            </a:srgbClr>
          </a:solidFill>
          <a:ln w="12700">
            <a:solidFill>
              <a:srgbClr val="2E75B6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0"/>
            <a:ext cx="1371600" cy="5143500"/>
          </a:xfrm>
          <a:prstGeom prst="rect">
            <a:avLst/>
          </a:prstGeom>
          <a:solidFill>
            <a:srgbClr val="2E75B6">
              <a:alpha val="25000"/>
            </a:srgbClr>
          </a:solidFill>
          <a:ln w="12700">
            <a:solidFill>
              <a:srgbClr val="2E75B6">
                <a:alpha val="2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Data Analysis Project — 2024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0" y="2194560"/>
            <a:ext cx="2743200" cy="36576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0" y="24231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 himabindu7503@gmail.com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828800" y="277063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linkedin.com/in/himabindu-s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828800" y="3118104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 github.com/himabindu447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828800" y="3465576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(+91) 9052197792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420624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to remote Data Analyst opportunities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Sales Data Analysis 2024</dc:title>
  <dc:subject>PptxGenJS Presentation</dc:subject>
  <dc:creator>Hima Bindu</dc:creator>
  <cp:lastModifiedBy>Hima Bindu</cp:lastModifiedBy>
  <cp:revision>1</cp:revision>
  <dcterms:created xsi:type="dcterms:W3CDTF">2026-04-29T06:30:53Z</dcterms:created>
  <dcterms:modified xsi:type="dcterms:W3CDTF">2026-04-29T06:30:53Z</dcterms:modified>
</cp:coreProperties>
</file>